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163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c_fix/assets/cover_bg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384048"/>
            <a:ext cx="2029968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1" descr="/mnt/data/solc_fix/assets/logo-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869" y="457200"/>
            <a:ext cx="652086" cy="32918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76656" y="1097280"/>
            <a:ext cx="1847088" cy="301752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49808" y="1161288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SITIO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676656" y="1536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SoloCasasChile.com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676656" y="208483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Catálogo, comparador y fichas técnicas para casas prefabricadas, SIP y modulares en Chile.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76656" y="3703320"/>
            <a:ext cx="4315968" cy="1078992"/>
          </a:xfrm>
          <a:prstGeom prst="roundRect">
            <a:avLst>
              <a:gd name="adj" fmla="val 13559"/>
            </a:avLst>
          </a:prstGeom>
          <a:solidFill>
            <a:srgbClr val="FFFFFF">
              <a:alpha val="9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32688" y="4005072"/>
            <a:ext cx="3803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plataforma visualmente moderna para descubrir modelos, comparar alternativas y cotizar con más contexto.</a:t>
            </a:r>
            <a:endParaRPr lang="en-US" sz="1140" dirty="0"/>
          </a:p>
        </p:txBody>
      </p:sp>
      <p:sp>
        <p:nvSpPr>
          <p:cNvPr id="11" name="Shape 7"/>
          <p:cNvSpPr/>
          <p:nvPr/>
        </p:nvSpPr>
        <p:spPr>
          <a:xfrm>
            <a:off x="676656" y="5138928"/>
            <a:ext cx="1051560" cy="301752"/>
          </a:xfrm>
          <a:prstGeom prst="roundRect">
            <a:avLst>
              <a:gd name="adj" fmla="val 36364"/>
            </a:avLst>
          </a:prstGeom>
          <a:solidFill>
            <a:srgbClr val="52E6CA"/>
          </a:solidFill>
          <a:ln w="12700">
            <a:solidFill>
              <a:srgbClr val="52E6C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9808" y="5202936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BETA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828800" y="51755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identidad visual propia, tono confiable y foco comercial.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720840" y="914400"/>
            <a:ext cx="4535424" cy="5376672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pic>
        <p:nvPicPr>
          <p:cNvPr id="15" name="Image 2" descr="/mnt/data/solc_fix/assets/hero_home.jpg"/>
          <p:cNvPicPr>
            <a:picLocks noChangeAspect="1"/>
          </p:cNvPicPr>
          <p:nvPr/>
        </p:nvPicPr>
        <p:blipFill>
          <a:blip r:embed="rId5"/>
          <a:srcRect t="2000" b="2000"/>
          <a:stretch/>
        </p:blipFill>
        <p:spPr>
          <a:xfrm>
            <a:off x="6885432" y="1078992"/>
            <a:ext cx="4206240" cy="5047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36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solocasaschile.com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11155680" y="63642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c_fix/assets/logo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16" y="320040"/>
            <a:ext cx="869448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4124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comunica el sitio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40080" y="12070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propuesta se apoya en claridad visual, volumen de oferta y una navegación pensada para facilitar la decisión.</a:t>
            </a:r>
            <a:endParaRPr lang="en-US" sz="1020" dirty="0"/>
          </a:p>
        </p:txBody>
      </p:sp>
      <p:sp>
        <p:nvSpPr>
          <p:cNvPr id="5" name="Shape 2"/>
          <p:cNvSpPr/>
          <p:nvPr/>
        </p:nvSpPr>
        <p:spPr>
          <a:xfrm>
            <a:off x="658368" y="1847088"/>
            <a:ext cx="2944368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201168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19933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centralizada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1371600" y="2249424"/>
            <a:ext cx="2084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 un catálogo amplio y ordenado para reunir modelos y constructoras en un solo punto.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960120" y="20391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32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3730752" y="1847088"/>
            <a:ext cx="2944368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13632" y="201168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43984" y="199339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simple</a:t>
            </a:r>
            <a:endParaRPr lang="en-US" sz="1180" dirty="0"/>
          </a:p>
        </p:txBody>
      </p:sp>
      <p:sp>
        <p:nvSpPr>
          <p:cNvPr id="13" name="Text 10"/>
          <p:cNvSpPr/>
          <p:nvPr/>
        </p:nvSpPr>
        <p:spPr>
          <a:xfrm>
            <a:off x="4443984" y="2249424"/>
            <a:ext cx="2084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visible la comparación entre alternativas para reducir la fricción previa a la cotización.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032504" y="20391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8C9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58368" y="3054096"/>
            <a:ext cx="2944368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32186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con detalle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1371600" y="3456432"/>
            <a:ext cx="2084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modelo puede mostrar imágenes, atributos técnicos y contexto comercial.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96012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8C9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3730752" y="3054096"/>
            <a:ext cx="2944368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13632" y="32186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43984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de marca</a:t>
            </a:r>
            <a:endParaRPr lang="en-US" sz="1180" dirty="0"/>
          </a:p>
        </p:txBody>
      </p:sp>
      <p:sp>
        <p:nvSpPr>
          <p:cNvPr id="23" name="Text 20"/>
          <p:cNvSpPr/>
          <p:nvPr/>
        </p:nvSpPr>
        <p:spPr>
          <a:xfrm>
            <a:off x="4443984" y="3456432"/>
            <a:ext cx="2084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estética editorial ayuda a elevar confianza y percepción de valor.</a:t>
            </a:r>
            <a:endParaRPr lang="en-US" sz="920" dirty="0"/>
          </a:p>
        </p:txBody>
      </p:sp>
      <p:sp>
        <p:nvSpPr>
          <p:cNvPr id="24" name="Text 21"/>
          <p:cNvSpPr/>
          <p:nvPr/>
        </p:nvSpPr>
        <p:spPr>
          <a:xfrm>
            <a:off x="4032504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32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658368" y="4553712"/>
            <a:ext cx="6016752" cy="987552"/>
          </a:xfrm>
          <a:prstGeom prst="roundRect">
            <a:avLst>
              <a:gd name="adj" fmla="val 14815"/>
            </a:avLst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32688" y="47914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+5.000 modelos y 226 constructoras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2688" y="5065776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principal visible en la portada del sitio, reforzando amplitud y cobertura.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967728" y="950976"/>
            <a:ext cx="4526280" cy="5358384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pic>
        <p:nvPicPr>
          <p:cNvPr id="29" name="Image 1" descr="/mnt/data/solc_fix/assets/hero_home.jpg"/>
          <p:cNvPicPr>
            <a:picLocks noChangeAspect="1"/>
          </p:cNvPicPr>
          <p:nvPr/>
        </p:nvPicPr>
        <p:blipFill>
          <a:blip r:embed="rId4"/>
          <a:srcRect t="2070" b="2070"/>
          <a:stretch/>
        </p:blipFill>
        <p:spPr>
          <a:xfrm>
            <a:off x="7132320" y="1115568"/>
            <a:ext cx="4197096" cy="5029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9436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solocasaschile.com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1155680" y="63642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c_fix/assets/logo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16" y="320040"/>
            <a:ext cx="869448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4124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 la experiencia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40080" y="12070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del usuario combina descubrimiento, filtrado visual y contacto directo con la constructora.</a:t>
            </a:r>
            <a:endParaRPr lang="en-US" sz="1020" dirty="0"/>
          </a:p>
        </p:txBody>
      </p:sp>
      <p:sp>
        <p:nvSpPr>
          <p:cNvPr id="5" name="Shape 2"/>
          <p:cNvSpPr/>
          <p:nvPr/>
        </p:nvSpPr>
        <p:spPr>
          <a:xfrm>
            <a:off x="658368" y="1847088"/>
            <a:ext cx="4773168" cy="4352544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pic>
        <p:nvPicPr>
          <p:cNvPr id="6" name="Image 1" descr="/mnt/data/solc_fix/assets/how_it_work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1993392"/>
            <a:ext cx="3218688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06440" y="20299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sugerido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806440" y="2441448"/>
            <a:ext cx="118872" cy="118872"/>
          </a:xfrm>
          <a:prstGeom prst="ellipse">
            <a:avLst/>
          </a:prstGeom>
          <a:solidFill>
            <a:srgbClr val="4324D9"/>
          </a:solidFill>
          <a:ln w="12700">
            <a:solidFill>
              <a:srgbClr val="4324D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07608" y="2414016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modelos y categorías relevantes</a:t>
            </a:r>
            <a:endParaRPr lang="en-US" sz="1010" dirty="0"/>
          </a:p>
        </p:txBody>
      </p:sp>
      <p:sp>
        <p:nvSpPr>
          <p:cNvPr id="10" name="Shape 6"/>
          <p:cNvSpPr/>
          <p:nvPr/>
        </p:nvSpPr>
        <p:spPr>
          <a:xfrm>
            <a:off x="5806440" y="2852928"/>
            <a:ext cx="118872" cy="118872"/>
          </a:xfrm>
          <a:prstGeom prst="ellipse">
            <a:avLst/>
          </a:prstGeom>
          <a:solidFill>
            <a:srgbClr val="52E6CA"/>
          </a:solidFill>
          <a:ln w="12700">
            <a:solidFill>
              <a:srgbClr val="52E6C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07608" y="2825496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opciones y atributos visibles</a:t>
            </a:r>
            <a:endParaRPr lang="en-US" sz="1010" dirty="0"/>
          </a:p>
        </p:txBody>
      </p:sp>
      <p:sp>
        <p:nvSpPr>
          <p:cNvPr id="12" name="Shape 8"/>
          <p:cNvSpPr/>
          <p:nvPr/>
        </p:nvSpPr>
        <p:spPr>
          <a:xfrm>
            <a:off x="5806440" y="3264408"/>
            <a:ext cx="118872" cy="118872"/>
          </a:xfrm>
          <a:prstGeom prst="ellipse">
            <a:avLst/>
          </a:prstGeom>
          <a:solidFill>
            <a:srgbClr val="4324D9"/>
          </a:solidFill>
          <a:ln w="12700">
            <a:solidFill>
              <a:srgbClr val="4324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07608" y="3236976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a la ficha técnica del modelo</a:t>
            </a:r>
            <a:endParaRPr lang="en-US" sz="1010" dirty="0"/>
          </a:p>
        </p:txBody>
      </p:sp>
      <p:sp>
        <p:nvSpPr>
          <p:cNvPr id="14" name="Shape 10"/>
          <p:cNvSpPr/>
          <p:nvPr/>
        </p:nvSpPr>
        <p:spPr>
          <a:xfrm>
            <a:off x="5806440" y="3675888"/>
            <a:ext cx="118872" cy="118872"/>
          </a:xfrm>
          <a:prstGeom prst="ellipse">
            <a:avLst/>
          </a:prstGeom>
          <a:solidFill>
            <a:srgbClr val="52E6CA"/>
          </a:solidFill>
          <a:ln w="12700">
            <a:solidFill>
              <a:srgbClr val="52E6C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007608" y="3648456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Cotizar con mejor contexto y expectativas</a:t>
            </a:r>
            <a:endParaRPr lang="en-US" sz="1010" dirty="0"/>
          </a:p>
        </p:txBody>
      </p:sp>
      <p:sp>
        <p:nvSpPr>
          <p:cNvPr id="16" name="Shape 12"/>
          <p:cNvSpPr/>
          <p:nvPr/>
        </p:nvSpPr>
        <p:spPr>
          <a:xfrm>
            <a:off x="5806440" y="4087368"/>
            <a:ext cx="118872" cy="118872"/>
          </a:xfrm>
          <a:prstGeom prst="ellipse">
            <a:avLst/>
          </a:prstGeom>
          <a:solidFill>
            <a:srgbClr val="4324D9"/>
          </a:solidFill>
          <a:ln w="12700">
            <a:solidFill>
              <a:srgbClr val="4324D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07608" y="4059936"/>
            <a:ext cx="5102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 dudas con una interfaz clara y moderna</a:t>
            </a:r>
            <a:endParaRPr lang="en-US" sz="1010" dirty="0"/>
          </a:p>
        </p:txBody>
      </p:sp>
      <p:sp>
        <p:nvSpPr>
          <p:cNvPr id="18" name="Shape 14"/>
          <p:cNvSpPr/>
          <p:nvPr/>
        </p:nvSpPr>
        <p:spPr>
          <a:xfrm>
            <a:off x="5806440" y="4645152"/>
            <a:ext cx="5074920" cy="896112"/>
          </a:xfrm>
          <a:prstGeom prst="roundRect">
            <a:avLst>
              <a:gd name="adj" fmla="val 16327"/>
            </a:avLst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062472" y="480974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C9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UX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062472" y="505663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incertidumbre antes del contacto comercial.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9436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solocasaschile.com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1155680" y="63642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c_fix/assets/logo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16" y="320040"/>
            <a:ext cx="869448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41248"/>
            <a:ext cx="679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Fichas pensadas para informar y convertir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40080" y="12070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página de detalle concentra imágenes, especificaciones y elementos que apoyan la generación de leads.</a:t>
            </a:r>
            <a:endParaRPr lang="en-US" sz="1020" dirty="0"/>
          </a:p>
        </p:txBody>
      </p:sp>
      <p:sp>
        <p:nvSpPr>
          <p:cNvPr id="5" name="Shape 2"/>
          <p:cNvSpPr/>
          <p:nvPr/>
        </p:nvSpPr>
        <p:spPr>
          <a:xfrm>
            <a:off x="594360" y="1810512"/>
            <a:ext cx="7479792" cy="4517136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pic>
        <p:nvPicPr>
          <p:cNvPr id="6" name="Image 1" descr="/mnt/data/solc_fix/assets/product_detai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968" y="1975104"/>
            <a:ext cx="3902576" cy="41879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302752" y="1810512"/>
            <a:ext cx="3218688" cy="437083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540496" y="2048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destacados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540496" y="2459736"/>
            <a:ext cx="118872" cy="118872"/>
          </a:xfrm>
          <a:prstGeom prst="ellipse">
            <a:avLst/>
          </a:prstGeom>
          <a:solidFill>
            <a:srgbClr val="4324D9"/>
          </a:solidFill>
          <a:ln w="12700">
            <a:solidFill>
              <a:srgbClr val="4324D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741664" y="243230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Galería principal de alto impacto</a:t>
            </a:r>
            <a:endParaRPr lang="en-US" sz="1010" dirty="0"/>
          </a:p>
        </p:txBody>
      </p:sp>
      <p:sp>
        <p:nvSpPr>
          <p:cNvPr id="11" name="Shape 7"/>
          <p:cNvSpPr/>
          <p:nvPr/>
        </p:nvSpPr>
        <p:spPr>
          <a:xfrm>
            <a:off x="8540496" y="2871216"/>
            <a:ext cx="118872" cy="118872"/>
          </a:xfrm>
          <a:prstGeom prst="ellipse">
            <a:avLst/>
          </a:prstGeom>
          <a:solidFill>
            <a:srgbClr val="52E6CA"/>
          </a:solidFill>
          <a:ln w="12700">
            <a:solidFill>
              <a:srgbClr val="52E6C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741664" y="284378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 y atributos resumidos</a:t>
            </a:r>
            <a:endParaRPr lang="en-US" sz="1010" dirty="0"/>
          </a:p>
        </p:txBody>
      </p:sp>
      <p:sp>
        <p:nvSpPr>
          <p:cNvPr id="13" name="Shape 9"/>
          <p:cNvSpPr/>
          <p:nvPr/>
        </p:nvSpPr>
        <p:spPr>
          <a:xfrm>
            <a:off x="8540496" y="3282696"/>
            <a:ext cx="118872" cy="118872"/>
          </a:xfrm>
          <a:prstGeom prst="ellipse">
            <a:avLst/>
          </a:prstGeom>
          <a:solidFill>
            <a:srgbClr val="4324D9"/>
          </a:solidFill>
          <a:ln w="12700">
            <a:solidFill>
              <a:srgbClr val="4324D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741664" y="325526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técnica comparable</a:t>
            </a:r>
            <a:endParaRPr lang="en-US" sz="1010" dirty="0"/>
          </a:p>
        </p:txBody>
      </p:sp>
      <p:sp>
        <p:nvSpPr>
          <p:cNvPr id="15" name="Shape 11"/>
          <p:cNvSpPr/>
          <p:nvPr/>
        </p:nvSpPr>
        <p:spPr>
          <a:xfrm>
            <a:off x="8540496" y="3694176"/>
            <a:ext cx="118872" cy="118872"/>
          </a:xfrm>
          <a:prstGeom prst="ellipse">
            <a:avLst/>
          </a:prstGeom>
          <a:solidFill>
            <a:srgbClr val="52E6CA"/>
          </a:solidFill>
          <a:ln w="12700">
            <a:solidFill>
              <a:srgbClr val="52E6C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741664" y="366674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y no incluye</a:t>
            </a:r>
            <a:endParaRPr lang="en-US" sz="1010" dirty="0"/>
          </a:p>
        </p:txBody>
      </p:sp>
      <p:sp>
        <p:nvSpPr>
          <p:cNvPr id="17" name="Shape 13"/>
          <p:cNvSpPr/>
          <p:nvPr/>
        </p:nvSpPr>
        <p:spPr>
          <a:xfrm>
            <a:off x="8540496" y="4105656"/>
            <a:ext cx="118872" cy="118872"/>
          </a:xfrm>
          <a:prstGeom prst="ellipse">
            <a:avLst/>
          </a:prstGeom>
          <a:solidFill>
            <a:srgbClr val="4324D9"/>
          </a:solidFill>
          <a:ln w="12700">
            <a:solidFill>
              <a:srgbClr val="4324D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741664" y="407822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integrado de cotización</a:t>
            </a:r>
            <a:endParaRPr lang="en-US" sz="1010" dirty="0"/>
          </a:p>
        </p:txBody>
      </p:sp>
      <p:sp>
        <p:nvSpPr>
          <p:cNvPr id="19" name="Shape 15"/>
          <p:cNvSpPr/>
          <p:nvPr/>
        </p:nvSpPr>
        <p:spPr>
          <a:xfrm>
            <a:off x="8540496" y="5047488"/>
            <a:ext cx="2706624" cy="676656"/>
          </a:xfrm>
          <a:prstGeom prst="roundRect">
            <a:avLst>
              <a:gd name="adj" fmla="val 18919"/>
            </a:avLst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732520" y="518464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comercial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8732520" y="53949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claridad antes de cotizar.</a:t>
            </a:r>
            <a:endParaRPr lang="en-US" sz="1120" dirty="0"/>
          </a:p>
        </p:txBody>
      </p:sp>
      <p:sp>
        <p:nvSpPr>
          <p:cNvPr id="22" name="Text 18"/>
          <p:cNvSpPr/>
          <p:nvPr/>
        </p:nvSpPr>
        <p:spPr>
          <a:xfrm>
            <a:off x="59436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solocasaschile.com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155680" y="63642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c_fix/assets/logo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16" y="320040"/>
            <a:ext cx="869448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4124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visual y aspiración de marca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40080" y="12070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imágenes del sitio ayudan a proyectar estilo de vida, terminaciones y calidad percibida.</a:t>
            </a:r>
            <a:endParaRPr lang="en-US" sz="1020" dirty="0"/>
          </a:p>
        </p:txBody>
      </p:sp>
      <p:sp>
        <p:nvSpPr>
          <p:cNvPr id="5" name="Shape 2"/>
          <p:cNvSpPr/>
          <p:nvPr/>
        </p:nvSpPr>
        <p:spPr>
          <a:xfrm>
            <a:off x="658368" y="1810512"/>
            <a:ext cx="6089904" cy="4279392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pic>
        <p:nvPicPr>
          <p:cNvPr id="6" name="Image 1" descr="/mnt/data/solc_fix/assets/collage.jpg"/>
          <p:cNvPicPr>
            <a:picLocks noChangeAspect="1"/>
          </p:cNvPicPr>
          <p:nvPr/>
        </p:nvPicPr>
        <p:blipFill>
          <a:blip r:embed="rId4"/>
          <a:srcRect l="965" r="965"/>
          <a:stretch/>
        </p:blipFill>
        <p:spPr>
          <a:xfrm>
            <a:off x="822960" y="1975104"/>
            <a:ext cx="5760720" cy="39136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40880" y="1810512"/>
            <a:ext cx="2194560" cy="1993392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pic>
        <p:nvPicPr>
          <p:cNvPr id="8" name="Image 2" descr="/mnt/data/solc_fix/assets/facade.jpg"/>
          <p:cNvPicPr>
            <a:picLocks noChangeAspect="1"/>
          </p:cNvPicPr>
          <p:nvPr/>
        </p:nvPicPr>
        <p:blipFill>
          <a:blip r:embed="rId5"/>
          <a:srcRect t="5392" b="5392"/>
          <a:stretch/>
        </p:blipFill>
        <p:spPr>
          <a:xfrm>
            <a:off x="7205472" y="1975104"/>
            <a:ext cx="1865376" cy="166420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9308592" y="1810512"/>
            <a:ext cx="2194560" cy="1993392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pic>
        <p:nvPicPr>
          <p:cNvPr id="10" name="Image 3" descr="/mnt/data/solc_fix/assets/interior.jpg"/>
          <p:cNvPicPr>
            <a:picLocks noChangeAspect="1"/>
          </p:cNvPicPr>
          <p:nvPr/>
        </p:nvPicPr>
        <p:blipFill>
          <a:blip r:embed="rId6"/>
          <a:srcRect t="5392" b="5392"/>
          <a:stretch/>
        </p:blipFill>
        <p:spPr>
          <a:xfrm>
            <a:off x="9473184" y="1975104"/>
            <a:ext cx="1865376" cy="1664208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040880" y="4169664"/>
            <a:ext cx="4462272" cy="676656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7223760" y="433425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EEBFF"/>
          </a:solidFill>
          <a:ln w="12700">
            <a:solidFill>
              <a:srgbClr val="EEEBFF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7754112" y="431596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deseo</a:t>
            </a:r>
            <a:endParaRPr lang="en-US" sz="1180" dirty="0"/>
          </a:p>
        </p:txBody>
      </p:sp>
      <p:sp>
        <p:nvSpPr>
          <p:cNvPr id="14" name="Text 8"/>
          <p:cNvSpPr/>
          <p:nvPr/>
        </p:nvSpPr>
        <p:spPr>
          <a:xfrm>
            <a:off x="7754112" y="4572000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estética cuidada mejora percepción y recordación.</a:t>
            </a:r>
            <a:endParaRPr lang="en-US" sz="920" dirty="0"/>
          </a:p>
        </p:txBody>
      </p:sp>
      <p:sp>
        <p:nvSpPr>
          <p:cNvPr id="15" name="Text 9"/>
          <p:cNvSpPr/>
          <p:nvPr/>
        </p:nvSpPr>
        <p:spPr>
          <a:xfrm>
            <a:off x="7342632" y="43616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32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7040880" y="4937760"/>
            <a:ext cx="4462272" cy="676656"/>
          </a:xfrm>
          <a:prstGeom prst="roundRect">
            <a:avLst>
              <a:gd name="adj" fmla="val 21622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7223760" y="51023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E8FBF7"/>
          </a:solidFill>
          <a:ln w="12700">
            <a:solidFill>
              <a:srgbClr val="E8FBF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754112" y="508406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1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contexto</a:t>
            </a:r>
            <a:endParaRPr lang="en-US" sz="1180" dirty="0"/>
          </a:p>
        </p:txBody>
      </p:sp>
      <p:sp>
        <p:nvSpPr>
          <p:cNvPr id="19" name="Text 13"/>
          <p:cNvSpPr/>
          <p:nvPr/>
        </p:nvSpPr>
        <p:spPr>
          <a:xfrm>
            <a:off x="7754112" y="5340096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Exterior, interior y terminaciones explican mejor el valor del modelo.</a:t>
            </a:r>
            <a:endParaRPr lang="en-US" sz="920" dirty="0"/>
          </a:p>
        </p:txBody>
      </p:sp>
      <p:sp>
        <p:nvSpPr>
          <p:cNvPr id="20" name="Text 14"/>
          <p:cNvSpPr/>
          <p:nvPr/>
        </p:nvSpPr>
        <p:spPr>
          <a:xfrm>
            <a:off x="7342632" y="51297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8C9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59436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solocasaschile.com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1155680" y="63642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olc_fix/assets/logo-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616" y="320040"/>
            <a:ext cx="869448" cy="4389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841248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40080" y="12070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A7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SoloCasasChile combina catálogo, comparador y fichas técnicas en una experiencia especializada para el mercado habitacional chileno.</a:t>
            </a:r>
            <a:endParaRPr lang="en-US" sz="1020" dirty="0"/>
          </a:p>
        </p:txBody>
      </p:sp>
      <p:sp>
        <p:nvSpPr>
          <p:cNvPr id="5" name="Shape 2"/>
          <p:cNvSpPr/>
          <p:nvPr/>
        </p:nvSpPr>
        <p:spPr>
          <a:xfrm>
            <a:off x="658368" y="1828800"/>
            <a:ext cx="10972800" cy="3520440"/>
          </a:xfrm>
          <a:prstGeom prst="roundRect">
            <a:avLst>
              <a:gd name="adj" fmla="val 5714"/>
            </a:avLst>
          </a:prstGeom>
          <a:solidFill>
            <a:srgbClr val="2D207A"/>
          </a:solidFill>
          <a:ln w="12700">
            <a:solidFill>
              <a:srgbClr val="2D207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88352" y="1828800"/>
            <a:ext cx="4242816" cy="3520440"/>
          </a:xfrm>
          <a:prstGeom prst="rect">
            <a:avLst/>
          </a:prstGeom>
          <a:solidFill>
            <a:srgbClr val="52E6CA">
              <a:alpha val="95000"/>
            </a:srgbClr>
          </a:solidFill>
          <a:ln w="12700">
            <a:solidFill>
              <a:srgbClr val="52E6C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578608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fricción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contexto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decisiones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99248" y="2743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solocasaschile.com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99248" y="23957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del sitio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99248" y="32186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Vitrina digital para casas prefabricadas, SIP y modulares en Chile.</a:t>
            </a:r>
            <a:endParaRPr lang="en-US" sz="1050" dirty="0"/>
          </a:p>
        </p:txBody>
      </p:sp>
      <p:pic>
        <p:nvPicPr>
          <p:cNvPr id="11" name="Image 1" descr="/mnt/data/solc_fix/assets/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3858768"/>
            <a:ext cx="1097280" cy="1097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6400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solocasaschile.com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11155680" y="63642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7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Panorámica</PresentationFormat>
  <Paragraphs>75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SoloCasasChile.com - Presentación</dc:title>
  <dc:subject>Presentación SoloCasasChile</dc:subject>
  <dc:creator>OpenAI</dc:creator>
  <cp:lastModifiedBy>studioo</cp:lastModifiedBy>
  <cp:revision>2</cp:revision>
  <dcterms:created xsi:type="dcterms:W3CDTF">2026-04-07T14:37:49Z</dcterms:created>
  <dcterms:modified xsi:type="dcterms:W3CDTF">2026-04-07T14:49:02Z</dcterms:modified>
</cp:coreProperties>
</file>